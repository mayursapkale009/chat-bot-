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 Intelligent Multilingual Chatbot Platform</a:t>
            </a:r>
            <a:br/>
            <a:r>
              <a:t>Specifically Designed for Indian Languages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508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IndicChat Pro — RAG + Ollama LLaMA3 + ChromaDB | Offline-First Multilingual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6D6"/>
                </a:solidFill>
                <a:latin typeface="Calibri"/>
              </a:defRPr>
            </a:pPr>
            <a:r>
              <a:t>BE Final Year Project — Department of Computer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Guided by: Prof. [Guide Name]  |  Academic Year 2025-26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Multilingual Chatbots for India?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🌍  India has 22 scheduled languages and 1,600+ dialects — most AI chatbots only serve English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🚫  English-only systems create digital exclusion for 90%+ of India's population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🔄  Code-switching (Hinglish) is the norm — existing NLP pipelines cannot handle mixed-language input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📡  Cloud-dependent solutions fail in rural areas with poor connectivity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🎯  Goal: Build an offline-first, multilingual chatbot supporting 11 Indian languages + Hinglish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🧠  Key Technologies: RAG (Retrieval-Augmented Generation), Ollama LLaMA3, ChromaDB Vector Store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📊  Achieves 85.2% QA accuracy — a 24.5% improvement over baseline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BACKGROUND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Calibri"/>
              </a:defRPr>
            </a:pPr>
            <a:r>
              <a:t>Key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❌ Lack of Multilingual Support: Most chatbots are English-only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❌ Poor Context Awareness: Systems fail across language/cultural contexts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❌ Scalability Issues: Frameworks struggle with language diversity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❌ English Bias in LLMs: Models internally use English representations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❌ ASR Failures: High WER for Indic languages (179.5% for Kannada)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❌ No Offline Capability: Cloud dependency limits rural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029200" cy="4114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Calibri"/>
              </a:defRPr>
            </a:pPr>
            <a:r>
              <a:t>Technical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⚡ Rich morphology &amp; varied syntax in Indian languages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⚡ Code-switching (Hinglish) detection &amp; processing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⚡ Limited training datasets for low-resource languages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⚡ Tokenization issues with Indic scripts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⚡ Spelling variations across regional dialects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⚡ Need for cultural sensitivity &amp; fairness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BACKGROUND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Core Technologies &amp;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234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Retrieval-Augmented Generation — combines retrieval from vector DB with LLM generation to reduce hallucinations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303520" cy="1234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Calibri"/>
              </a:defRPr>
            </a:pPr>
            <a:r>
              <a:t>Ollama LLaMA3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Open-source LLM running locally via Ollama — enables offline, air-gapped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303520" cy="1234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Lightweight vector database for storing &amp; querying document embeddings locally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429000"/>
            <a:ext cx="5303520" cy="1234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Calibri"/>
              </a:defRPr>
            </a:pPr>
            <a:r>
              <a:t>MuRIL BERT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862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Multilingual Representations for Indian Languages — pre-trained on 17 Indian languages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5303520" cy="1234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Calibri"/>
              </a:defRPr>
            </a:pPr>
            <a:r>
              <a:t>LangDetect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Language identification library for detecting input language including Hinglish code-mixing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303520" cy="1234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Calibri"/>
              </a:defRPr>
            </a:pPr>
            <a:r>
              <a:t>Whisper ASR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3035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OpenAI's speech recognition model — fine-tuned for Indic languages to reduce 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Related Works — Multilingual Chatbot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45720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/ Model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Contribution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[1]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MuRIL BERT FAQ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60.73% Top-1 accuracy on multilingual FAQ retrieval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code-switching support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[3]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ChatSense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knowledge graphs + Gemini for voice interaction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Cloud-dependent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[4]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RAG + Knowledge Graph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Structured domain knowledge improves reasoning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Limited language support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[7]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Multi-Agent Hybrid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Combines generative + retrieval methods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 architecture overhead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[11]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IndicBERT / IndicNLPSuite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Compact 12M-18M model, IndicGLUE benchmark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chatbot system built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[12]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 + Vector DB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LangChain + FAISS/Pinecone for domain QA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Proprietary, not offline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Related Works — ASR &amp; NLP for Indic Languages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 Area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Findings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[2]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Hindi NLP Chatbots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NLP-based chatbots for healthcare &amp; education in Hindi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[5]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 Bias Analysis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English-centric representations degrade Indic performance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[6]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Whisper ASR Fine-tuning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Joint multilingual training reduces WER by 40-60%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[8]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Cross-lingual Transfer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Adapter-based fine-tuning enables low-resource language support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[9]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Chatbot Evaluation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Turing Test frameworks for conversational AI assessment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[13]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Survey &amp; Trends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K-means clustering &amp; ontology analysis of chatbot research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800"/>
                </a:solidFill>
                <a:latin typeface="Calibri"/>
              </a:defRPr>
            </a:pPr>
            <a:r>
              <a:t>Research Gap: No existing system combines offline LLM + RAG + 11 Indian languages + Hinglish code-mixing in a single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PROPOSED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IndicChat Pro — 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51760" cy="3840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800"/>
                </a:solidFill>
                <a:latin typeface="Calibri"/>
              </a:defRPr>
            </a:pPr>
            <a:r>
              <a:t>11 Languages + Hinglish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0F5"/>
                </a:solidFill>
                <a:latin typeface="Calibri"/>
              </a:defRPr>
            </a:pPr>
            <a:r>
              <a:t>Hindi, Bengali, Tamil, Telugu, Marathi,</a:t>
            </a:r>
            <a:br/>
            <a:r>
              <a:t>Gujarati, Kannada, Malayalam, Punjabi,</a:t>
            </a:r>
            <a:br/>
            <a:r>
              <a:t>Odia, Assamese + Hinglish code-mix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103120"/>
            <a:ext cx="2651760" cy="3840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800"/>
                </a:solidFill>
                <a:latin typeface="Calibri"/>
              </a:defRPr>
            </a:pPr>
            <a:r>
              <a:t>RAG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0F5"/>
                </a:solidFill>
                <a:latin typeface="Calibri"/>
              </a:defRPr>
            </a:pPr>
            <a:r>
              <a:t>Retrieval-Augmented Generation</a:t>
            </a:r>
            <a:br/>
            <a:r>
              <a:t>with ChromaDB vector store for</a:t>
            </a:r>
            <a:br/>
            <a:r>
              <a:t>accurate, context-aware responses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651760" cy="3840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800"/>
                </a:solidFill>
                <a:latin typeface="Calibri"/>
              </a:defRPr>
            </a:pPr>
            <a:r>
              <a:t>Offline-First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0F5"/>
                </a:solidFill>
                <a:latin typeface="Calibri"/>
              </a:defRPr>
            </a:pPr>
            <a:r>
              <a:t>Ollama LLaMA3 runs locally</a:t>
            </a:r>
            <a:br/>
            <a:r>
              <a:t>Air-gapped deployment ready</a:t>
            </a:r>
            <a:br/>
            <a:r>
              <a:t>~1.8s response latency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103120"/>
            <a:ext cx="2651760" cy="3840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800"/>
                </a:solidFill>
                <a:latin typeface="Calibri"/>
              </a:defRPr>
            </a:pPr>
            <a:r>
              <a:t>85.2%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0F5"/>
                </a:solidFill>
                <a:latin typeface="Calibri"/>
              </a:defRPr>
            </a:pPr>
            <a:r>
              <a:t>Outperforms MuRIL (60.73%) and</a:t>
            </a:r>
            <a:br/>
            <a:r>
              <a:t>IndicBERT baselines on QA tasks</a:t>
            </a:r>
            <a:br/>
            <a:r>
              <a:t>92% Hinglish handling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PROPOSED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— IndicChat Pro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Fig 1: End-to-End Architecture with RAG + Ollama LLaMA3 + ChromaDB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554480" cy="1463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 Input</a:t>
            </a:r>
            <a:br/>
            <a:r>
              <a:t>(11 Languages</a:t>
            </a:r>
            <a:br/>
            <a:r>
              <a:t>+ Hinglish)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063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560320"/>
            <a:ext cx="1554480" cy="14630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743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Language</a:t>
            </a:r>
            <a:br/>
            <a:r>
              <a:t>Detection</a:t>
            </a:r>
            <a:br/>
            <a:r>
              <a:t>(LangDetect)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063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560320"/>
            <a:ext cx="1554480" cy="14630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2743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NLU Module</a:t>
            </a:r>
            <a:br/>
            <a:r>
              <a:t>(MuRIL BERT</a:t>
            </a:r>
            <a:br/>
            <a:r>
              <a:t>Embeddings)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063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2560320"/>
            <a:ext cx="1554480" cy="1463040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743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Vector Search</a:t>
            </a:r>
            <a:br/>
            <a:r>
              <a:t>(ChromaDB</a:t>
            </a:r>
            <a:br/>
            <a:r>
              <a:t>Cosine Sim.)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063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2560320"/>
            <a:ext cx="1554480" cy="1463040"/>
          </a:xfrm>
          <a:prstGeom prst="roundRect">
            <a:avLst/>
          </a:prstGeom>
          <a:solidFill>
            <a:srgbClr val="E17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2743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LLM Generation</a:t>
            </a:r>
            <a:br/>
            <a:r>
              <a:t>(Ollama</a:t>
            </a:r>
            <a:br/>
            <a:r>
              <a:t>LLaMA3)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063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2560320"/>
            <a:ext cx="1554480" cy="1463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743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  <a:br/>
            <a:r>
              <a:t>(Multilingual</a:t>
            </a:r>
            <a:br/>
            <a:r>
              <a:t>Output)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10698480" cy="16459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Calibri"/>
              </a:defRPr>
            </a:pPr>
            <a:r>
              <a:t>Knowledge Layer Pipeline: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074920"/>
            <a:ext cx="1645920" cy="914400"/>
          </a:xfrm>
          <a:prstGeom prst="roundRect">
            <a:avLst/>
          </a:prstGeom>
          <a:solidFill>
            <a:srgbClr val="343455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20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Business</a:t>
            </a:r>
            <a:br/>
            <a:r>
              <a:t>Docs (PDF)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39" y="5074920"/>
            <a:ext cx="1645920" cy="914400"/>
          </a:xfrm>
          <a:prstGeom prst="roundRect">
            <a:avLst/>
          </a:prstGeom>
          <a:solidFill>
            <a:srgbClr val="343455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59" y="5120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Text</a:t>
            </a:r>
            <a:br/>
            <a:r>
              <a:t>Extraction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59" y="5074920"/>
            <a:ext cx="1645920" cy="914400"/>
          </a:xfrm>
          <a:prstGeom prst="roundRect">
            <a:avLst/>
          </a:prstGeom>
          <a:solidFill>
            <a:srgbClr val="343455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79" y="5120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Chunking</a:t>
            </a:r>
            <a:br/>
            <a:r>
              <a:t>(512 tokens)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79" y="5074920"/>
            <a:ext cx="1645920" cy="914400"/>
          </a:xfrm>
          <a:prstGeom prst="roundRect">
            <a:avLst/>
          </a:prstGeom>
          <a:solidFill>
            <a:srgbClr val="343455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6599" y="5120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Embedding</a:t>
            </a:r>
            <a:br/>
            <a:r>
              <a:t>(MuRIL)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799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5074920"/>
            <a:ext cx="1645920" cy="914400"/>
          </a:xfrm>
          <a:prstGeom prst="roundRect">
            <a:avLst/>
          </a:prstGeom>
          <a:solidFill>
            <a:srgbClr val="343455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5120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ChromaDB</a:t>
            </a:r>
            <a:br/>
            <a:r>
              <a:t>Vector 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PROPOSED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Multilingual NLU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Fig 2: Language Detection &amp; Hinglish Processing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057400" cy="10972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 Query</a:t>
            </a:r>
            <a:br/>
            <a:r>
              <a:t>(Any Language)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2057400" cy="13716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18745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5"/>
                </a:solidFill>
                <a:latin typeface="Calibri"/>
              </a:defRPr>
            </a:pPr>
            <a:r>
              <a:t>Input can be Hindi,</a:t>
            </a:r>
            <a:br/>
            <a:r>
              <a:t>Tamil, Hinglish, etc.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103120"/>
            <a:ext cx="2057400" cy="10972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9456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LangDetect</a:t>
            </a:r>
            <a:br/>
            <a:r>
              <a:t>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3383280"/>
            <a:ext cx="2057400" cy="13716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3474720"/>
            <a:ext cx="18745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5"/>
                </a:solidFill>
                <a:latin typeface="Calibri"/>
              </a:defRPr>
            </a:pPr>
            <a:r>
              <a:t>Identifies language using</a:t>
            </a:r>
            <a:br/>
            <a:r>
              <a:t>statistical analysis + regex</a:t>
            </a:r>
            <a:br/>
            <a:r>
              <a:t>for code-mixed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103120"/>
            <a:ext cx="2057400" cy="1097280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219456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Hinglish</a:t>
            </a:r>
            <a:br/>
            <a:r>
              <a:t>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3383280"/>
            <a:ext cx="2057400" cy="13716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474720"/>
            <a:ext cx="18745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5"/>
                </a:solidFill>
                <a:latin typeface="Calibri"/>
              </a:defRPr>
            </a:pPr>
            <a:r>
              <a:t>Regex-based detection of</a:t>
            </a:r>
            <a:br/>
            <a:r>
              <a:t>code-switching patterns</a:t>
            </a:r>
            <a:br/>
            <a:r>
              <a:t>92%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59" y="2103120"/>
            <a:ext cx="2057400" cy="109728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799" y="219456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MuRIL BERT</a:t>
            </a:r>
            <a:br/>
            <a:r>
              <a:t>Encoder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59" y="3383280"/>
            <a:ext cx="2057400" cy="13716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799" y="3474720"/>
            <a:ext cx="18745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5"/>
                </a:solidFill>
                <a:latin typeface="Calibri"/>
              </a:defRPr>
            </a:pPr>
            <a:r>
              <a:t>Generates 256-dim</a:t>
            </a:r>
            <a:br/>
            <a:r>
              <a:t>vector embeddings</a:t>
            </a:r>
            <a:br/>
            <a:r>
              <a:t>for semantic matching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2103120"/>
            <a:ext cx="2057400" cy="1097280"/>
          </a:xfrm>
          <a:prstGeom prst="roundRect">
            <a:avLst/>
          </a:prstGeom>
          <a:solidFill>
            <a:srgbClr val="E17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19456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Intent</a:t>
            </a:r>
            <a:br/>
            <a:r>
              <a:t>Classifier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3383280"/>
            <a:ext cx="2057400" cy="13716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3474720"/>
            <a:ext cx="18745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5"/>
                </a:solidFill>
                <a:latin typeface="Calibri"/>
              </a:defRPr>
            </a:pPr>
            <a:r>
              <a:t>Maps query to</a:t>
            </a:r>
            <a:br/>
            <a:r>
              <a:t>predefined categories</a:t>
            </a:r>
            <a:br/>
            <a:r>
              <a:t>for retrieval routing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20640"/>
            <a:ext cx="11247120" cy="1188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800"/>
                </a:solidFill>
                <a:latin typeface="Calibri"/>
              </a:defRPr>
            </a:pPr>
            <a:r>
              <a:t>Supported Languages (11 + Hinglish):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Hindi • Bengali • Tamil • Telugu • Marathi • Gujarati • Kannada • Malayalam • Punjabi • Odia • Assamese • Hinglish (Code-Mixed)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PROPOSED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Knowledge Layer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Fig 3: Business Documents → Vector Store Representations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03120"/>
            <a:ext cx="210312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214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1: Document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51760"/>
            <a:ext cx="2103120" cy="16459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5"/>
                </a:solidFill>
                <a:latin typeface="Calibri"/>
              </a:defRPr>
            </a:pPr>
            <a:r>
              <a:t>Business PDFs, FAQs, and</a:t>
            </a:r>
            <a:br/>
            <a:r>
              <a:t>unstructured documents are</a:t>
            </a:r>
            <a:br/>
            <a:r>
              <a:t>collected as knowledge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2103120"/>
            <a:ext cx="2103120" cy="4114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19" y="21214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2: Text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79" y="2651760"/>
            <a:ext cx="2103120" cy="16459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19" y="27432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5"/>
                </a:solidFill>
                <a:latin typeface="Calibri"/>
              </a:defRPr>
            </a:pPr>
            <a:r>
              <a:t>PyPDF2 / OCR extracts raw</a:t>
            </a:r>
            <a:br/>
            <a:r>
              <a:t>text from documents,</a:t>
            </a:r>
            <a:br/>
            <a:r>
              <a:t>handling multiple scripts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599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103120"/>
            <a:ext cx="2103120" cy="41148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214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3: Chunking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651760"/>
            <a:ext cx="2103120" cy="16459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7432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5"/>
                </a:solidFill>
                <a:latin typeface="Calibri"/>
              </a:defRPr>
            </a:pPr>
            <a:r>
              <a:t>Text is split into 512-token</a:t>
            </a:r>
            <a:br/>
            <a:r>
              <a:t>chunks with overlap for</a:t>
            </a:r>
            <a:br/>
            <a:r>
              <a:t>context preservation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19" y="2103120"/>
            <a:ext cx="2103120" cy="411480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59" y="21214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4: Embedding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19" y="2651760"/>
            <a:ext cx="2103120" cy="16459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59" y="27432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5"/>
                </a:solidFill>
                <a:latin typeface="Calibri"/>
              </a:defRPr>
            </a:pPr>
            <a:r>
              <a:t>MuRIL BERT generates</a:t>
            </a:r>
            <a:br/>
            <a:r>
              <a:t>256-dimensional vector</a:t>
            </a:r>
            <a:br/>
            <a:r>
              <a:t>embeddings for each chunk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39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8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2103120"/>
            <a:ext cx="2103120" cy="411480"/>
          </a:xfrm>
          <a:prstGeom prst="roundRect">
            <a:avLst/>
          </a:prstGeom>
          <a:solidFill>
            <a:srgbClr val="E17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21214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5: Vector Storage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651760"/>
            <a:ext cx="2103120" cy="16459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E17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7432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5"/>
                </a:solidFill>
                <a:latin typeface="Calibri"/>
              </a:defRPr>
            </a:pPr>
            <a:r>
              <a:t>Embeddings stored in</a:t>
            </a:r>
            <a:br/>
            <a:r>
              <a:t>ChromaDB with metadata</a:t>
            </a:r>
            <a:br/>
            <a:r>
              <a:t>for fast cosine similarity search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754880"/>
            <a:ext cx="11430000" cy="16459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Calibri"/>
              </a:defRPr>
            </a:pPr>
            <a:r>
              <a:t>Runtime Query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User Query → MuRIL Embedding → Cosine Similarity Search in ChromaDB → Top-K Relevant Chunks → LLaMA3 Generates 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Similarity = cos(θ) = (A·B) / (||A|| × ||B||)    where A = query embedding, B = document embedding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PROPOSED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RAG Architecture — Retrieval-Augmented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4114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Calibri"/>
              </a:defRPr>
            </a:pPr>
            <a:r>
              <a:t>How RAG Works in IndicChat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1️⃣  User submits query in any supported Indian language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2️⃣  LangDetect identifies language; Hinglish is parsed via regex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3️⃣  MuRIL BERT encodes query into 256-dim vector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4️⃣  ChromaDB performs cosine similarity search (Top-K=5)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5️⃣  Retrieved context chunks are injected into LLM prompt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6️⃣  Ollama LLaMA3 generates grounded, factual response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7️⃣  Response delivered in user's detected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Calibri"/>
              </a:defRPr>
            </a:pPr>
            <a:r>
              <a:t>Why RAG Over Pure LLM?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Reduces hallucinations by grounding in real documents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Domain-specific without expensive fine-tuning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Easy knowledge updates — just add new documents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Works offline with local vector DB (ChromaDB)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Transparent — retrieved sources can be cited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Lower compute than full model re-training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PROPOSED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Selection — Why MuRIL BERT?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22860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MuRIL BERT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XLM-RoBERTa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IndicBERT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Monsoon-NLP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BERT-base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RoBERTa-large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ALBERT-based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BERT-based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Languages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 Indian + English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~100 languages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 Indian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Hindi-focused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~110M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~125M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12M-18M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~110M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Data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Mono + Trans + Translit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2.5TB Common Crawl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IndicCorp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Hindi corpus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Top-1 Accuracy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60.73%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39.75%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39.75%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14.63%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 Optimized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⚠️ Partial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Selected?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CHOSEN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B800"/>
                </a:solidFill>
                <a:latin typeface="Calibri"/>
              </a:defRPr>
            </a:pPr>
            <a:r>
              <a:t>MuRIL BERT was selected for its superior performance on Indian language tasks, trained on monolingual, translated, and transliterated data for 17 Indian languages.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PROPOSED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Offline-First Deployment with Ollama LLaMA3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474720" cy="3840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Calibri"/>
              </a:defRPr>
            </a:pPr>
            <a:r>
              <a:t>Ollama 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697480"/>
            <a:ext cx="256032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Runs LLaMA3 locally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No cloud API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Air-gapped compatible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Single binary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GPU acceleration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103120"/>
            <a:ext cx="3474720" cy="3840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894"/>
                </a:solidFill>
                <a:latin typeface="Calibri"/>
              </a:defRPr>
            </a:pPr>
            <a:r>
              <a:t>Privacy &amp; Security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2697480"/>
            <a:ext cx="2560320" cy="254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All data stays on-device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No external API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Compliant with data laws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Suitable for government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Enterprise-ready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103120"/>
            <a:ext cx="3474720" cy="3840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00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19" y="2697480"/>
            <a:ext cx="2560320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39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~1.8s response 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Handles concurrent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Low memory footprint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Efficient token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• Scalable horizontally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Performance: IndicChat Pro vs.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Table IV: Comprehensive Performance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2004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IndicChat Pro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RAG-based QA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85.2%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60.7%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Language Support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Multilingual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 langs + Hinglish (92%)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 languages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Response Time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~1.8 seconds (offline)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Cloud-based (higher)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Benchmark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IndicGLUE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IndicGLUE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 Score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Exact Match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0.61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Score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0.61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00400" y="5486400"/>
            <a:ext cx="5760720" cy="7315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5321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🏆 24.5% improvement in QA accuracy over baseline | 92% Hinglish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FAQ Chatbot — Top-K Accuracy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Table VI: Performance Across Models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10424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Top-1 Accuracy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Top-2 Accuracy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Top-3 Accuracy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MuRIL BERT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60.73%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70.73%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76.34%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XLM-RoBERTa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39.75%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46.34%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49.02%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IndicBERT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39.75%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46.33%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48.72%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Monsoon-NLP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14.63%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15.60%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16.09%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Calibri"/>
              </a:defRPr>
            </a:pPr>
            <a:r>
              <a:t>Top-1 Accuracy — Visual Comparison: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MuRIL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617720"/>
            <a:ext cx="4442520" cy="2743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996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Calibri"/>
              </a:defRPr>
            </a:pPr>
            <a:r>
              <a:t>60.73%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474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XLM-R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093208"/>
            <a:ext cx="2907792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5232" y="50474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39.75%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229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IndicBERT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568696"/>
            <a:ext cx="2907792" cy="2743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55229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5CE7"/>
                </a:solidFill>
                <a:latin typeface="Calibri"/>
              </a:defRPr>
            </a:pPr>
            <a:r>
              <a:t>39.75%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98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Monsoon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6044184"/>
            <a:ext cx="1070213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653" y="599846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14.63%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ASR Performance — Whisper Fine-Tuning for Indic Languages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Table VII: Word Error Rate (WER) Comparison — Lower is Better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English (En)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Hindi (Hi)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Bengali (Bn)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Telugu (Te)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Kannada (Kn)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Whisper (Baseline)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49.6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62.8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116.8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114.9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179.5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Individual Fine-Tune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36.6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55.1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68.2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63.5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v1.1 (Unified)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32.5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40.0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55.9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85.6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73.0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800"/>
                </a:solidFill>
                <a:latin typeface="Calibri"/>
              </a:defRPr>
            </a:pPr>
            <a:r>
              <a:t>Table VIII: Language Identification — Diarization Error Rate (DER)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5720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DER (Lower = Better)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Whisper (Baseline)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24.04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v1 (Joint ASR/LID)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18.79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v2 (0.8 LID / 0.2 ASR)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18.03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LID-only Training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23.46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Cross-System Comparison — IndicChat Pro vs Research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Table V: Comprehensive Feature &amp; Performance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10424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IndicChat Pro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MuRIL FAQ [1]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IndicNLPSuite [11]</a:t>
                      </a:r>
                    </a:p>
                  </a:txBody>
                  <a:tcPr marL="50800" marR="50800" marT="25400" marB="25400">
                    <a:solidFill>
                      <a:srgbClr val="0096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Datasets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MCA FAQs + Business QA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IndicGLUE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Ministry of Corporate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Affairs FAQs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IndicGLUE, IndicCorp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Languages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 Indic + Hinglish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(92% code-mix)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 Indian languages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 major Indian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English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85.2% QA accuracy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60.73% Top-1 FAQ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Competitive NLU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(no chatbot focus)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Model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RAG + Ollama LLaMA3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ChromaDB (offline)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MuRIL BERT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(extractive QA)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IndicBERT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(ALBERT)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Code-Mixing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support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(regex + langdetect)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support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(future goal)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Monolingual only</a:t>
                      </a:r>
                    </a:p>
                  </a:txBody>
                  <a:tcPr marL="50800" marR="50800" marT="25400" marB="25400"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1.8s offline,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air-gapped ready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Reduced NMT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overhead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Compact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(12M-18M params)</a:t>
                      </a:r>
                    </a:p>
                  </a:txBody>
                  <a:tcPr marL="50800" marR="50800" marT="25400" marB="25400">
                    <a:solidFill>
                      <a:srgbClr val="2A2A4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Advantages &amp; Disadvantages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  <a:latin typeface="Calibri"/>
              </a:defRPr>
            </a:pPr>
            <a:r>
              <a:t>✅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85.2% QA accuracy — 24.5% improvement over baselines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Supports 11 Indian languages + Hinglish code-mixing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Fully offline — no cloud dependency, works in rural areas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Privacy-preserving — all data stays on-device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RAG reduces hallucinations with grounded responses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Easy knowledge updates without model retraining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✅ Air-gapped deployment for government/enterprise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029200" cy="4114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⚠️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⚠️ Limited training data for some low-resource languages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⚠️ Local LLM requires capable hardware (GPU recommended)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⚠️ Spelling variations across dialects still challenging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⚠️ No voice interaction yet (future ASR integration)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⚠️ Cultural nuances may be missed in some contexts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⚠️ Code-switching accuracy can degrade with more languages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⚠️ Model size constraints limit response sophistication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Future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🎯 Key 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Multilingual chatbots are critical for India's digital inclusion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RAG + offline LLM architecture achieves state-of-the-art results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IndicChat Pro: 85.2% accuracy across 11 languages + Hinglish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Offline-first design enables deployment in connectivity-limited areas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MuRIL BERT outperforms other models for Indian language tasks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Code-switching support addresses real-world usage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029200" cy="4114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Calibri"/>
              </a:defRPr>
            </a:pPr>
            <a:r>
              <a:t>🚀 Future 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🔊 Voice-based interaction using fine-tuned Whisper ASR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🌐 Expand to all 22 scheduled languages of India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🔄 Advanced code-switching with neural LID models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📱 Edge deployment on mobile devices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🧠 Cross-lingual transfer learning for zero-shot support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⚡ Energy-efficient architectures for scalable deployment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🔒 Enhanced cultural sensitivity &amp; bias 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[1]  "Context-Aware Multilingual FAQ Chatbot Using MuRIL BERT" — Extractive QA with neural classifier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[2]  "NLP-Based Chatbots for Hindi" — Healthcare &amp; education chatbot development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[3]  "ChatSense: Dynamic Knowledge Graphs" — Gemini 2.0 + real-time voice interaction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[4]  "RAG with Knowledge Graph Integration" — Retrieval-Augmented Generation framework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[5]  "English Bias in Large Language Models" — Analysis of LLM language representations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[6]  "Whisper ASR Fine-Tuning for Indic Languages" — Joint multilingual training for WER reduction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[7]  "Multi-Agent Hybrid Chatbot" — Generative + retrieval-based framework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[8]  "Cross-Lingual Transfer Learning" — Adapter-based fine-tuning for low-resource languages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[9]  "Chatbot Evaluation Frameworks" — Turing Test-based assessment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[11] "IndicNLPSuite &amp; IndicBERT" — IndicGLUE benchmark for Indian languages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[12] "Intelligent Chatbots with ChatGPT" — LangChain + FAISS/Pinecone retrieval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[13] "Survey of Chatbot Research Trends" — K-means clustering &amp; ontology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